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18CF8"/>
                </a:solidFill>
                <a:latin typeface="Calibri"/>
              </a:rPr>
              <a:t>ARCHITECTURE GROUP  ·  CEO / CIO 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E6E8EE"/>
                </a:solidFill>
                <a:latin typeface="Calibri"/>
              </a:rPr>
              <a:t>One Finance 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7CAD6"/>
                </a:solidFill>
                <a:latin typeface="Calibri"/>
              </a:rPr>
              <a:t>A thin on-prem outcome layer. It subscribes to facts the bank already produces and answers one question per close: Ready, Blocked, or Delayed — and why.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11247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7CAD6"/>
                </a:solidFill>
                <a:latin typeface="Calibri"/>
              </a:rPr>
              <a:t>Subscribe. Fold. Show one light. Do not replace Motif or Helix.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93392"/>
            <a:ext cx="1956816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232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7CAD6"/>
                </a:solidFill>
                <a:latin typeface="Calibri"/>
              </a:rPr>
              <a:t>Motif · CATS · Helix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993392"/>
            <a:ext cx="256032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818CF8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25496" y="1993392"/>
            <a:ext cx="1956816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18CF8"/>
                </a:solidFill>
                <a:latin typeface="Calibri"/>
              </a:rPr>
              <a:t>Facts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37176" y="1993392"/>
            <a:ext cx="256032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818CF8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48072" y="1993392"/>
            <a:ext cx="1956816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Hub fold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9752" y="1993392"/>
            <a:ext cx="256032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818CF8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70648" y="1993392"/>
            <a:ext cx="1956816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Ready / Blocked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82328" y="1993392"/>
            <a:ext cx="256032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818CF8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93224" y="1993392"/>
            <a:ext cx="1956816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18CF8"/>
                </a:solidFill>
                <a:latin typeface="Calibri"/>
              </a:rPr>
              <a:t>One 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962656"/>
            <a:ext cx="11247120" cy="3456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E6E8EE"/>
                </a:solidFill>
                <a:latin typeface="Calibri"/>
              </a:rPr>
              <a:t>▸  Kafka, SNS, Redis, Airflow, Lambda move or schedule work. They are not this product.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6E8EE"/>
                </a:solidFill>
                <a:latin typeface="Calibri"/>
              </a:rPr>
              <a:t>▸  Phase 1 runs as-is: HTTP ingest, H2, three processes. No new cloud bill or broker licence.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10528"/>
            <a:ext cx="91440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C7CAD6"/>
                </a:solidFill>
                <a:latin typeface="Calibri"/>
              </a:rPr>
              <a:t>One Finance UX  ·  confidential  ·  architecture Q&amp;A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510528"/>
            <a:ext cx="10972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C7CAD6"/>
                </a:solidFill>
                <a:latin typeface="Calibri"/>
              </a:rPr>
              <a:t>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18CF8"/>
                </a:solidFill>
                <a:latin typeface="Calibri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E6E8EE"/>
                </a:solidFill>
                <a:latin typeface="Calibri"/>
              </a:rPr>
              <a:t>Endorse the fold. Reuse the estate.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7CAD6"/>
                </a:solidFill>
                <a:latin typeface="Calibri"/>
              </a:rPr>
              <a:t>The room is asked to name one system of decision — not to buy a stack. The bus, books, and rec the bank already paid for stay where they are.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11247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7CAD6"/>
                </a:solidFill>
                <a:latin typeface="Calibri"/>
              </a:rPr>
              <a:t>Four decisions to minute. First production outcome is FOBO.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93392"/>
            <a:ext cx="2537460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Endorse the fold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5244" y="1993392"/>
            <a:ext cx="256032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818CF8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06140" y="1993392"/>
            <a:ext cx="2537460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18CF8"/>
                </a:solidFill>
                <a:latin typeface="Calibri"/>
              </a:rPr>
              <a:t>Reuse Kafka / MQ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8464" y="1993392"/>
            <a:ext cx="256032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818CF8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993392"/>
            <a:ext cx="2537460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18CF8"/>
                </a:solidFill>
                <a:latin typeface="Calibri"/>
              </a:rPr>
              <a:t>FOBO first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1684" y="1993392"/>
            <a:ext cx="256032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818CF8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12580" y="1993392"/>
            <a:ext cx="2537460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Next outcome =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962656"/>
            <a:ext cx="11247120" cy="3456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E6E8EE"/>
                </a:solidFill>
                <a:latin typeface="Calibri"/>
              </a:rPr>
              <a:t>▸  Build the hub + entitled console in-house. It is the only Ready / Blocked system of decision.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6E8EE"/>
                </a:solidFill>
                <a:latin typeface="Calibri"/>
              </a:rPr>
              <a:t>▸  Reuse Kafka, Solace, or IBM MQ if they exist. Do not buy AWS to get a close.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10528"/>
            <a:ext cx="91440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C7CAD6"/>
                </a:solidFill>
                <a:latin typeface="Calibri"/>
              </a:rPr>
              <a:t>One Finance UX  ·  confidential  ·  architecture Q&amp;A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6510528"/>
            <a:ext cx="10972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C7CAD6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18CF8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E6E8EE"/>
                </a:solidFill>
                <a:latin typeface="Calibri"/>
              </a:rPr>
              <a:t>The answer is scattered.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7CAD6"/>
                </a:solidFill>
                <a:latin typeface="Calibri"/>
              </a:rPr>
              <a:t>“Is it safe to run this process yet?” lives in five screens and five status words. People chase. Closes run late. Audit asks who knew — nobody holds the picture.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00784"/>
            <a:ext cx="5431536" cy="1572768"/>
          </a:xfrm>
          <a:prstGeom prst="roundRect">
            <a:avLst/>
          </a:prstGeom>
          <a:solidFill>
            <a:srgbClr val="161D33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755648"/>
            <a:ext cx="5212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BBF24"/>
                </a:solidFill>
                <a:latin typeface="Calibri"/>
              </a:rPr>
              <a:t>TODAY — FIVE ANSWERS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011680"/>
            <a:ext cx="1700784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BBF24"/>
                </a:solidFill>
                <a:latin typeface="Calibri"/>
              </a:rPr>
              <a:t>Motif: MB014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68296" y="2011680"/>
            <a:ext cx="1700784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BBF24"/>
                </a:solidFill>
                <a:latin typeface="Calibri"/>
              </a:rPr>
              <a:t>CATS: posted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42232" y="2011680"/>
            <a:ext cx="1700784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BBF24"/>
                </a:solidFill>
                <a:latin typeface="Calibri"/>
              </a:rPr>
              <a:t>Helix: ran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651760"/>
            <a:ext cx="1700784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BBF24"/>
                </a:solidFill>
                <a:latin typeface="Calibri"/>
              </a:rPr>
              <a:t>SAP: booked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68296" y="2651760"/>
            <a:ext cx="1700784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BBF24"/>
                </a:solidFill>
                <a:latin typeface="Calibri"/>
              </a:rPr>
              <a:t>Nobody folds them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34456" y="2225040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F87171"/>
                </a:solidFill>
                <a:latin typeface="Calibri"/>
              </a:rPr>
              <a:t>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18504" y="1700784"/>
            <a:ext cx="5431536" cy="1572768"/>
          </a:xfrm>
          <a:prstGeom prst="roundRect">
            <a:avLst/>
          </a:prstGeom>
          <a:solidFill>
            <a:srgbClr val="161D33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2" y="1755648"/>
            <a:ext cx="5212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34D399"/>
                </a:solidFill>
                <a:latin typeface="Calibri"/>
              </a:rPr>
              <a:t>NEEDED — ONE STITCH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9944" y="2011680"/>
            <a:ext cx="2587752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This COB · this region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0848" y="2011680"/>
            <a:ext cx="2587752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Named blocker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9944" y="2651760"/>
            <a:ext cx="2587752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One Ready / Blocked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70848" y="2651760"/>
            <a:ext cx="2587752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One human signs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364992"/>
            <a:ext cx="11247120" cy="305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E6E8EE"/>
                </a:solidFill>
                <a:latin typeface="Calibri"/>
              </a:rPr>
              <a:t>▸  Without this layer every team writes a different Ready / Blocked — spreadsheet, DAG, or dashboard.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10528"/>
            <a:ext cx="91440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C7CAD6"/>
                </a:solidFill>
                <a:latin typeface="Calibri"/>
              </a:rPr>
              <a:t>One Finance UX  ·  confidential  ·  architecture Q&amp;A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0" y="6510528"/>
            <a:ext cx="10972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C7CAD6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18CF8"/>
                </a:solidFill>
                <a:latin typeface="Calibri"/>
              </a:rPr>
              <a:t>WHAT THIS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E6E8EE"/>
                </a:solidFill>
                <a:latin typeface="Calibri"/>
              </a:rPr>
              <a:t>Build the decision. Reuse the pipes.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7CAD6"/>
                </a:solidFill>
                <a:latin typeface="Calibri"/>
              </a:rPr>
              <a:t>The product is the fold and the entitled board. Books grids, rec screens, brokers, and warehouses stay the systems of record.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11247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7CAD6"/>
                </a:solidFill>
                <a:latin typeface="Calibri"/>
              </a:rPr>
              <a:t>One path. Command once. Fail closed if the row is not entitled.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93392"/>
            <a:ext cx="1956816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232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7CAD6"/>
                </a:solidFill>
                <a:latin typeface="Calibri"/>
              </a:rPr>
              <a:t>Ingest 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993392"/>
            <a:ext cx="256032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818CF8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25496" y="1993392"/>
            <a:ext cx="1956816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Distinct-key fold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37176" y="1993392"/>
            <a:ext cx="256032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818CF8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48072" y="1993392"/>
            <a:ext cx="1956816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18CF8"/>
                </a:solidFill>
                <a:latin typeface="Calibri"/>
              </a:rPr>
              <a:t>Command once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9752" y="1993392"/>
            <a:ext cx="256032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818CF8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70648" y="1993392"/>
            <a:ext cx="1956816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BBF24"/>
                </a:solidFill>
                <a:latin typeface="Calibri"/>
              </a:rPr>
              <a:t>404 if not entitled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82328" y="1993392"/>
            <a:ext cx="256032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818CF8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93224" y="1993392"/>
            <a:ext cx="1956816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Audit + board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62656"/>
            <a:ext cx="11247120" cy="868680"/>
          </a:xfrm>
          <a:prstGeom prst="roundRect">
            <a:avLst/>
          </a:prstGeom>
          <a:solidFill>
            <a:srgbClr val="161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035808"/>
            <a:ext cx="1088136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4D399"/>
                </a:solidFill>
                <a:latin typeface="Calibri"/>
              </a:rPr>
              <a:t>We reuse</a:t>
            </a:r>
          </a:p>
          <a:p>
            <a:r>
              <a:rPr sz="1500" b="0">
                <a:solidFill>
                  <a:srgbClr val="E6E8EE"/>
                </a:solidFill>
                <a:latin typeface="Calibri"/>
              </a:rPr>
              <a:t>Motif, Helix, CATS, CEES, Kafka / MQ already paid, Oracle, Airflow after READY.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922776"/>
            <a:ext cx="11247120" cy="868680"/>
          </a:xfrm>
          <a:prstGeom prst="roundRect">
            <a:avLst/>
          </a:prstGeom>
          <a:solidFill>
            <a:srgbClr val="161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995928"/>
            <a:ext cx="1088136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4D399"/>
                </a:solidFill>
                <a:latin typeface="Calibri"/>
              </a:rPr>
              <a:t>We never</a:t>
            </a:r>
          </a:p>
          <a:p>
            <a:r>
              <a:rPr sz="1500" b="0">
                <a:solidFill>
                  <a:srgbClr val="E6E8EE"/>
                </a:solidFill>
                <a:latin typeface="Calibri"/>
              </a:rPr>
              <a:t>Rebuild books grids. Kafka in the browser. if (FOBO). LLM on the fold.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10528"/>
            <a:ext cx="91440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C7CAD6"/>
                </a:solidFill>
                <a:latin typeface="Calibri"/>
              </a:rPr>
              <a:t>One Finance UX  ·  confidential  ·  architecture Q&amp;A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510528"/>
            <a:ext cx="10972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C7CAD6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18CF8"/>
                </a:solidFill>
                <a:latin typeface="Calibri"/>
              </a:rPr>
              <a:t>CATEGORY ERROR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E6E8EE"/>
                </a:solidFill>
                <a:latin typeface="Calibri"/>
              </a:rPr>
              <a:t>They move bytes. We decide Ready.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7CAD6"/>
                </a:solidFill>
                <a:latin typeface="Calibri"/>
              </a:rPr>
              <a:t>A topic offset, a queue receipt, or a cache key proves produce / consume. It does not name R-2031 BLOCKED on MB014, ignore a stale run, or 404 an unentitled row.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00784"/>
            <a:ext cx="5431536" cy="1298448"/>
          </a:xfrm>
          <a:prstGeom prst="roundRect">
            <a:avLst/>
          </a:prstGeom>
          <a:solidFill>
            <a:srgbClr val="161D33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755648"/>
            <a:ext cx="5212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BBF24"/>
                </a:solidFill>
                <a:latin typeface="Calibri"/>
              </a:rPr>
              <a:t>TRANSPORT &amp; GLUE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011680"/>
            <a:ext cx="2587752" cy="42976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BBF24"/>
                </a:solidFill>
                <a:latin typeface="Calibri"/>
              </a:rPr>
              <a:t>Kafka / IBM MQ / AMQ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55264" y="2011680"/>
            <a:ext cx="2587752" cy="42976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BBF24"/>
                </a:solidFill>
                <a:latin typeface="Calibri"/>
              </a:rPr>
              <a:t>SNS · SQS · EventBridge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514600"/>
            <a:ext cx="2587752" cy="42976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BBF24"/>
                </a:solidFill>
                <a:latin typeface="Calibri"/>
              </a:rPr>
              <a:t>Lambda / Functions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55264" y="2514600"/>
            <a:ext cx="2587752" cy="42976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BBF24"/>
                </a:solidFill>
                <a:latin typeface="Calibri"/>
              </a:rPr>
              <a:t>Redis cache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4456" y="2133600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F87171"/>
                </a:solidFill>
                <a:latin typeface="Calibri"/>
              </a:rPr>
              <a:t>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18504" y="1700784"/>
            <a:ext cx="5431536" cy="1298448"/>
          </a:xfrm>
          <a:prstGeom prst="roundRect">
            <a:avLst/>
          </a:prstGeom>
          <a:solidFill>
            <a:srgbClr val="161D33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755648"/>
            <a:ext cx="5212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34D399"/>
                </a:solidFill>
                <a:latin typeface="Calibri"/>
              </a:rPr>
              <a:t>THIS FOLD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9944" y="2011680"/>
            <a:ext cx="2587752" cy="42976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Distinct source keys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70848" y="2011680"/>
            <a:ext cx="2587752" cy="42976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Named blocker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9944" y="2514600"/>
            <a:ext cx="2587752" cy="42976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runId once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70848" y="2514600"/>
            <a:ext cx="2587752" cy="42976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CEES 404 · audit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02920" y="3090672"/>
          <a:ext cx="1124712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023360"/>
                <a:gridCol w="4480560"/>
              </a:tblGrid>
              <a:tr h="34747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18CF8"/>
                          </a:solidFill>
                          <a:latin typeface="Calibri"/>
                        </a:rPr>
                        <a:t>Tool they name</a:t>
                      </a:r>
                    </a:p>
                  </a:txBody>
                  <a:tcPr>
                    <a:solidFill>
                      <a:srgbClr val="1218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18CF8"/>
                          </a:solidFill>
                          <a:latin typeface="Calibri"/>
                        </a:rPr>
                        <a:t>Good at</a:t>
                      </a:r>
                    </a:p>
                  </a:txBody>
                  <a:tcPr>
                    <a:solidFill>
                      <a:srgbClr val="1218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18CF8"/>
                          </a:solidFill>
                          <a:latin typeface="Calibri"/>
                        </a:rPr>
                        <a:t>Not a close</a:t>
                      </a:r>
                    </a:p>
                  </a:txBody>
                  <a:tcPr>
                    <a:solidFill>
                      <a:srgbClr val="12182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8EE"/>
                          </a:solidFill>
                          <a:latin typeface="Calibri"/>
                        </a:rPr>
                        <a:t>Kafka / IBM MQ / AMQ</a:t>
                      </a:r>
                    </a:p>
                  </a:txBody>
                  <a:tcPr>
                    <a:solidFill>
                      <a:srgbClr val="16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8EE"/>
                          </a:solidFill>
                          <a:latin typeface="Calibri"/>
                        </a:rPr>
                        <a:t>Durable log, fan-out</a:t>
                      </a:r>
                    </a:p>
                  </a:txBody>
                  <a:tcPr>
                    <a:solidFill>
                      <a:srgbClr val="16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8EE"/>
                          </a:solidFill>
                          <a:latin typeface="Calibri"/>
                        </a:rPr>
                        <a:t>An offset is not BLOCKED on MB014</a:t>
                      </a:r>
                    </a:p>
                  </a:txBody>
                  <a:tcPr>
                    <a:solidFill>
                      <a:srgbClr val="161D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8EE"/>
                          </a:solidFill>
                          <a:latin typeface="Calibri"/>
                        </a:rPr>
                        <a:t>SNS + SQS / Service Bus</a:t>
                      </a:r>
                    </a:p>
                  </a:txBody>
                  <a:tcPr>
                    <a:solidFill>
                      <a:srgbClr val="1218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8EE"/>
                          </a:solidFill>
                          <a:latin typeface="Calibri"/>
                        </a:rPr>
                        <a:t>Queues and pub-sub</a:t>
                      </a:r>
                    </a:p>
                  </a:txBody>
                  <a:tcPr>
                    <a:solidFill>
                      <a:srgbClr val="1218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8EE"/>
                          </a:solidFill>
                          <a:latin typeface="Calibri"/>
                        </a:rPr>
                        <a:t>A receipt is not Ready</a:t>
                      </a:r>
                    </a:p>
                  </a:txBody>
                  <a:tcPr>
                    <a:solidFill>
                      <a:srgbClr val="12182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8EE"/>
                          </a:solidFill>
                          <a:latin typeface="Calibri"/>
                        </a:rPr>
                        <a:t>Lambda / Functions</a:t>
                      </a:r>
                    </a:p>
                  </a:txBody>
                  <a:tcPr>
                    <a:solidFill>
                      <a:srgbClr val="16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8EE"/>
                          </a:solidFill>
                          <a:latin typeface="Calibri"/>
                        </a:rPr>
                        <a:t>Glue and burst compute</a:t>
                      </a:r>
                    </a:p>
                  </a:txBody>
                  <a:tcPr>
                    <a:solidFill>
                      <a:srgbClr val="16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8EE"/>
                          </a:solidFill>
                          <a:latin typeface="Calibri"/>
                        </a:rPr>
                        <a:t>Re-implements the hub, off-prem</a:t>
                      </a:r>
                    </a:p>
                  </a:txBody>
                  <a:tcPr>
                    <a:solidFill>
                      <a:srgbClr val="161D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8EE"/>
                          </a:solidFill>
                          <a:latin typeface="Calibri"/>
                        </a:rPr>
                        <a:t>Redis</a:t>
                      </a:r>
                    </a:p>
                  </a:txBody>
                  <a:tcPr>
                    <a:solidFill>
                      <a:srgbClr val="1218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8EE"/>
                          </a:solidFill>
                          <a:latin typeface="Calibri"/>
                        </a:rPr>
                        <a:t>Cache</a:t>
                      </a:r>
                    </a:p>
                  </a:txBody>
                  <a:tcPr>
                    <a:solidFill>
                      <a:srgbClr val="1218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8EE"/>
                          </a:solidFill>
                          <a:latin typeface="Calibri"/>
                        </a:rPr>
                        <a:t>Second truth if it owns Ready</a:t>
                      </a:r>
                    </a:p>
                  </a:txBody>
                  <a:tcPr>
                    <a:solidFill>
                      <a:srgbClr val="12182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8EE"/>
                          </a:solidFill>
                          <a:latin typeface="Calibri"/>
                        </a:rPr>
                        <a:t>Airflow / Control-M</a:t>
                      </a:r>
                    </a:p>
                  </a:txBody>
                  <a:tcPr>
                    <a:solidFill>
                      <a:srgbClr val="16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8EE"/>
                          </a:solidFill>
                          <a:latin typeface="Calibri"/>
                        </a:rPr>
                        <a:t>Batch after READY</a:t>
                      </a:r>
                    </a:p>
                  </a:txBody>
                  <a:tcPr>
                    <a:solidFill>
                      <a:srgbClr val="16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8EE"/>
                          </a:solidFill>
                          <a:latin typeface="Calibri"/>
                        </a:rPr>
                        <a:t>Polling Motif recreates the late close</a:t>
                      </a:r>
                    </a:p>
                  </a:txBody>
                  <a:tcPr>
                    <a:solidFill>
                      <a:srgbClr val="161D33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502920" y="6510528"/>
            <a:ext cx="91440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C7CAD6"/>
                </a:solidFill>
                <a:latin typeface="Calibri"/>
              </a:rPr>
              <a:t>One Finance UX  ·  confidential  ·  architecture Q&amp;A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510528"/>
            <a:ext cx="10972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C7CAD6"/>
                </a:solidFill>
                <a:latin typeface="Calibr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18CF8"/>
                </a:solidFill>
                <a:latin typeface="Calibri"/>
              </a:rPr>
              <a:t>Q  ·  KAFKA / IBM MQ / ACTIVEMQ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E6E8EE"/>
                </a:solidFill>
                <a:latin typeface="Calibri"/>
              </a:rPr>
              <a:t>Use the bus. Do not confuse it with the fold.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7CAD6"/>
                </a:solidFill>
                <a:latin typeface="Calibri"/>
              </a:rPr>
              <a:t>A message on motif.book.lifecycle proves the producer wrote and the consumer read. FOBO still needs distinct books, a named blocker, and one Helix POST with a run id.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11247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7CAD6"/>
                </a:solidFill>
                <a:latin typeface="Calibri"/>
              </a:rPr>
              <a:t>Keep the broker. Adapter is thin. Browser never touches the bus.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93392"/>
            <a:ext cx="1956816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232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7CAD6"/>
                </a:solidFill>
                <a:latin typeface="Calibri"/>
              </a:rPr>
              <a:t>Motif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993392"/>
            <a:ext cx="256032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818CF8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25496" y="1993392"/>
            <a:ext cx="1956816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18CF8"/>
                </a:solidFill>
                <a:latin typeface="Calibri"/>
              </a:rPr>
              <a:t>Kafka / MQ topic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37176" y="1993392"/>
            <a:ext cx="256032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818CF8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48072" y="1993392"/>
            <a:ext cx="1956816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18CF8"/>
                </a:solidFill>
                <a:latin typeface="Calibri"/>
              </a:rPr>
              <a:t>Thin adapter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9752" y="1993392"/>
            <a:ext cx="256032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818CF8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70648" y="1993392"/>
            <a:ext cx="1956816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POST /api/events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82328" y="1993392"/>
            <a:ext cx="256032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818CF8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93224" y="1993392"/>
            <a:ext cx="1956816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Fold → Helix once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962656"/>
            <a:ext cx="11247120" cy="3456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E6E8EE"/>
                </a:solidFill>
                <a:latin typeface="Calibri"/>
              </a:rPr>
              <a:t>▸  Kafka can store 300 MASTERBOOK_READY. The hub counts distinct keys, then POSTs Helix once.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6E8EE"/>
                </a:solidFill>
                <a:latin typeface="Calibri"/>
              </a:rPr>
              <a:t>▸  IBM MQ and ActiveMQ are the same category — a good adapter behind the same API. REST + SSE only in the browser.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10528"/>
            <a:ext cx="91440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C7CAD6"/>
                </a:solidFill>
                <a:latin typeface="Calibri"/>
              </a:rPr>
              <a:t>One Finance UX  ·  confidential  ·  architecture Q&amp;A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510528"/>
            <a:ext cx="10972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C7CAD6"/>
                </a:solidFill>
                <a:latin typeface="Calibr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18CF8"/>
                </a:solidFill>
                <a:latin typeface="Calibri"/>
              </a:rPr>
              <a:t>Q  ·  AWS SNS, SQS, LAMBDA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E6E8EE"/>
                </a:solidFill>
                <a:latin typeface="Calibri"/>
              </a:rPr>
              <a:t>Cloud messaging is not an outcome layer.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7CAD6"/>
                </a:solidFill>
                <a:latin typeface="Calibri"/>
              </a:rPr>
              <a:t>SNS, SQS, EventBridge, Event Grid, and Service Bus have the same gap as Kafka: they move facts. Lambda or Step Functions rewrite this hub as billed invocations at COB burst — and the evidence leaves the bank.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00784"/>
            <a:ext cx="5431536" cy="1572768"/>
          </a:xfrm>
          <a:prstGeom prst="roundRect">
            <a:avLst/>
          </a:prstGeom>
          <a:solidFill>
            <a:srgbClr val="161D33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755648"/>
            <a:ext cx="5212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87171"/>
                </a:solidFill>
                <a:latin typeface="Calibri"/>
              </a:rPr>
              <a:t>AWS / AZURE GLUE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011680"/>
            <a:ext cx="2587752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Calibri"/>
              </a:rPr>
              <a:t>SNS / SQS / EventBridge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55264" y="2011680"/>
            <a:ext cx="2587752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Calibri"/>
              </a:rPr>
              <a:t>Lambda at COB burst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651760"/>
            <a:ext cx="2587752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Calibri"/>
              </a:rPr>
              <a:t>Close keys leave the DC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55264" y="2651760"/>
            <a:ext cx="2587752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Calibri"/>
              </a:rPr>
              <a:t>Second IAM + bill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4456" y="2225040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F87171"/>
                </a:solidFill>
                <a:latin typeface="Calibri"/>
              </a:rPr>
              <a:t>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18504" y="1700784"/>
            <a:ext cx="5431536" cy="1572768"/>
          </a:xfrm>
          <a:prstGeom prst="roundRect">
            <a:avLst/>
          </a:prstGeom>
          <a:solidFill>
            <a:srgbClr val="161D33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755648"/>
            <a:ext cx="5212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34D399"/>
                </a:solidFill>
                <a:latin typeface="Calibri"/>
              </a:rPr>
              <a:t>ON-PREM HUB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9944" y="2011680"/>
            <a:ext cx="2587752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Same fold as the POC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70848" y="2011680"/>
            <a:ext cx="2587752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runId + sign-off stay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9944" y="2651760"/>
            <a:ext cx="2587752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Reuse paid bus if any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70848" y="2651760"/>
            <a:ext cx="2587752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No new cloud control plane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364992"/>
            <a:ext cx="11247120" cy="305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E6E8EE"/>
                </a:solidFill>
                <a:latin typeface="Calibri"/>
              </a:rPr>
              <a:t>▸  Do not buy a cloud account to get Ready / Blocked. If a bus exists, adapt it; if not, HTTP is enough for phase 1.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10528"/>
            <a:ext cx="91440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C7CAD6"/>
                </a:solidFill>
                <a:latin typeface="Calibri"/>
              </a:rPr>
              <a:t>One Finance UX  ·  confidential  ·  architecture Q&amp;A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510528"/>
            <a:ext cx="10972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C7CAD6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18CF8"/>
                </a:solidFill>
                <a:latin typeface="Calibri"/>
              </a:rPr>
              <a:t>Q  ·  REDIS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E6E8EE"/>
                </a:solidFill>
                <a:latin typeface="Calibri"/>
              </a:rPr>
              <a:t>We do not use Redis. We do not need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7CAD6"/>
                </a:solidFill>
                <a:latin typeface="Calibri"/>
              </a:rPr>
              <a:t>The fold is event-sourced. Replay the store and Ready / Blocked comes back. Putting that answer in Redis creates a second truth the moment a node fails over.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00784"/>
            <a:ext cx="5431536" cy="1572768"/>
          </a:xfrm>
          <a:prstGeom prst="roundRect">
            <a:avLst/>
          </a:prstGeom>
          <a:solidFill>
            <a:srgbClr val="161D33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755648"/>
            <a:ext cx="5212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34D399"/>
                </a:solidFill>
                <a:latin typeface="Calibri"/>
              </a:rPr>
              <a:t>SYSTEM OF DECISION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011680"/>
            <a:ext cx="1700784" cy="120700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Event store (H2 → Oracle)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68296" y="2011680"/>
            <a:ext cx="1700784" cy="120700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Rebuild the fold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42232" y="2011680"/>
            <a:ext cx="1700784" cy="120700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Ready lives here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34456" y="2225040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F87171"/>
                </a:solidFill>
                <a:latin typeface="Calibri"/>
              </a:rPr>
              <a:t>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8504" y="1700784"/>
            <a:ext cx="5431536" cy="1572768"/>
          </a:xfrm>
          <a:prstGeom prst="roundRect">
            <a:avLst/>
          </a:prstGeom>
          <a:solidFill>
            <a:srgbClr val="161D33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755648"/>
            <a:ext cx="5212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BBF24"/>
                </a:solidFill>
                <a:latin typeface="Calibri"/>
              </a:rPr>
              <a:t>OPTIONAL LATER ONLY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944" y="2011680"/>
            <a:ext cx="1700784" cy="120700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BBF24"/>
                </a:solidFill>
                <a:latin typeface="Calibri"/>
              </a:rPr>
              <a:t>Redis read-scale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2011680"/>
            <a:ext cx="1700784" cy="120700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BBF24"/>
                </a:solidFill>
                <a:latin typeface="Calibri"/>
              </a:rPr>
              <a:t>Never owns Ready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57816" y="2011680"/>
            <a:ext cx="1700784" cy="120700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BBF24"/>
                </a:solidFill>
                <a:latin typeface="Calibri"/>
              </a:rPr>
              <a:t>Skip in phase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364992"/>
            <a:ext cx="11247120" cy="305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E6E8EE"/>
                </a:solidFill>
                <a:latin typeface="Calibri"/>
              </a:rPr>
              <a:t>▸  Optional later: read-scale only. Never the system of decision.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6E8EE"/>
                </a:solidFill>
                <a:latin typeface="Calibri"/>
              </a:rPr>
              <a:t>▸  Phase 1: no cache licence. H2 now, Oracle later — already on the estate.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10528"/>
            <a:ext cx="91440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C7CAD6"/>
                </a:solidFill>
                <a:latin typeface="Calibri"/>
              </a:rPr>
              <a:t>One Finance UX  ·  confidential  ·  architecture Q&amp;A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10528"/>
            <a:ext cx="10972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C7CAD6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18CF8"/>
                </a:solidFill>
                <a:latin typeface="Calibri"/>
              </a:rPr>
              <a:t>Q  ·  AIRFLOW / CONTROL-M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E6E8EE"/>
                </a:solidFill>
                <a:latin typeface="Calibri"/>
              </a:rPr>
              <a:t>Batch after READY. Never instead of READY.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7CAD6"/>
                </a:solidFill>
                <a:latin typeface="Calibri"/>
              </a:rPr>
              <a:t>A scheduler is good at warehouse loads and file drops after the light is green. If it polls Motif to decide Helix, you have rebuilt the late close inside a DAG.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11247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7CAD6"/>
                </a:solidFill>
                <a:latin typeface="Calibri"/>
              </a:rPr>
              <a:t>Green light first. Batch second. Never Motif-poll → Helix.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93392"/>
            <a:ext cx="1956816" cy="694944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232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7CAD6"/>
                </a:solidFill>
                <a:latin typeface="Calibri"/>
              </a:rPr>
              <a:t>Facts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993392"/>
            <a:ext cx="256032" cy="6949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818CF8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25496" y="1993392"/>
            <a:ext cx="1956816" cy="694944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Fold READY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37176" y="1993392"/>
            <a:ext cx="256032" cy="6949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818CF8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48072" y="1993392"/>
            <a:ext cx="1956816" cy="694944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18CF8"/>
                </a:solidFill>
                <a:latin typeface="Calibri"/>
              </a:rPr>
              <a:t>Command Helix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9752" y="1993392"/>
            <a:ext cx="256032" cy="6949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818CF8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70648" y="1993392"/>
            <a:ext cx="1956816" cy="694944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GENERATED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82328" y="1993392"/>
            <a:ext cx="256032" cy="6949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818CF8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93224" y="1993392"/>
            <a:ext cx="1956816" cy="694944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18CF8"/>
                </a:solidFill>
                <a:latin typeface="Calibri"/>
              </a:rPr>
              <a:t>Then Airflow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02920" y="2816352"/>
          <a:ext cx="1124712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023360"/>
                <a:gridCol w="4480560"/>
              </a:tblGrid>
              <a:tr h="34747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18CF8"/>
                          </a:solidFill>
                          <a:latin typeface="Calibri"/>
                        </a:rPr>
                        <a:t>If</a:t>
                      </a:r>
                    </a:p>
                  </a:txBody>
                  <a:tcPr>
                    <a:solidFill>
                      <a:srgbClr val="1218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18CF8"/>
                          </a:solidFill>
                          <a:latin typeface="Calibri"/>
                        </a:rPr>
                        <a:t>Airflow alone</a:t>
                      </a:r>
                    </a:p>
                  </a:txBody>
                  <a:tcPr>
                    <a:solidFill>
                      <a:srgbClr val="1218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18CF8"/>
                          </a:solidFill>
                          <a:latin typeface="Calibri"/>
                        </a:rPr>
                        <a:t>This fold</a:t>
                      </a:r>
                    </a:p>
                  </a:txBody>
                  <a:tcPr>
                    <a:solidFill>
                      <a:srgbClr val="12182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8EE"/>
                          </a:solidFill>
                          <a:latin typeface="Calibri"/>
                        </a:rPr>
                        <a:t>Same book twice</a:t>
                      </a:r>
                    </a:p>
                  </a:txBody>
                  <a:tcPr>
                    <a:solidFill>
                      <a:srgbClr val="16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8EE"/>
                          </a:solidFill>
                          <a:latin typeface="Calibri"/>
                        </a:rPr>
                        <a:t>Easy to double-count</a:t>
                      </a:r>
                    </a:p>
                  </a:txBody>
                  <a:tcPr>
                    <a:solidFill>
                      <a:srgbClr val="16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8EE"/>
                          </a:solidFill>
                          <a:latin typeface="Calibri"/>
                        </a:rPr>
                        <a:t>Distinct sourceKey</a:t>
                      </a:r>
                    </a:p>
                  </a:txBody>
                  <a:tcPr>
                    <a:solidFill>
                      <a:srgbClr val="161D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8EE"/>
                          </a:solidFill>
                          <a:latin typeface="Calibri"/>
                        </a:rPr>
                        <a:t>Book 147 fails</a:t>
                      </a:r>
                    </a:p>
                  </a:txBody>
                  <a:tcPr>
                    <a:solidFill>
                      <a:srgbClr val="1218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8EE"/>
                          </a:solidFill>
                          <a:latin typeface="Calibri"/>
                        </a:rPr>
                        <a:t>Generic job error</a:t>
                      </a:r>
                    </a:p>
                  </a:txBody>
                  <a:tcPr>
                    <a:solidFill>
                      <a:srgbClr val="1218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8EE"/>
                          </a:solidFill>
                          <a:latin typeface="Calibri"/>
                        </a:rPr>
                        <a:t>Named blocker; RTB replay</a:t>
                      </a:r>
                    </a:p>
                  </a:txBody>
                  <a:tcPr>
                    <a:solidFill>
                      <a:srgbClr val="12182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8EE"/>
                          </a:solidFill>
                          <a:latin typeface="Calibri"/>
                        </a:rPr>
                        <a:t>Old Helix run</a:t>
                      </a:r>
                    </a:p>
                  </a:txBody>
                  <a:tcPr>
                    <a:solidFill>
                      <a:srgbClr val="16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8EE"/>
                          </a:solidFill>
                          <a:latin typeface="Calibri"/>
                        </a:rPr>
                        <a:t>Can land on today</a:t>
                      </a:r>
                    </a:p>
                  </a:txBody>
                  <a:tcPr>
                    <a:solidFill>
                      <a:srgbClr val="16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8EE"/>
                          </a:solidFill>
                          <a:latin typeface="Calibri"/>
                        </a:rPr>
                        <a:t>Stale runId ignored</a:t>
                      </a:r>
                    </a:p>
                  </a:txBody>
                  <a:tcPr>
                    <a:solidFill>
                      <a:srgbClr val="161D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8EE"/>
                          </a:solidFill>
                          <a:latin typeface="Calibri"/>
                        </a:rPr>
                        <a:t>Motif 20s late</a:t>
                      </a:r>
                    </a:p>
                  </a:txBody>
                  <a:tcPr>
                    <a:solidFill>
                      <a:srgbClr val="1218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8EE"/>
                          </a:solidFill>
                          <a:latin typeface="Calibri"/>
                        </a:rPr>
                        <a:t>Next poke, often minutes</a:t>
                      </a:r>
                    </a:p>
                  </a:txBody>
                  <a:tcPr>
                    <a:solidFill>
                      <a:srgbClr val="1218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8EE"/>
                          </a:solidFill>
                          <a:latin typeface="Calibri"/>
                        </a:rPr>
                        <a:t>Event updates now</a:t>
                      </a:r>
                    </a:p>
                  </a:txBody>
                  <a:tcPr>
                    <a:solidFill>
                      <a:srgbClr val="12182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8EE"/>
                          </a:solidFill>
                          <a:latin typeface="Calibri"/>
                        </a:rPr>
                        <a:t>Next outcome</a:t>
                      </a:r>
                    </a:p>
                  </a:txBody>
                  <a:tcPr>
                    <a:solidFill>
                      <a:srgbClr val="16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8EE"/>
                          </a:solidFill>
                          <a:latin typeface="Calibri"/>
                        </a:rPr>
                        <a:t>New DAG</a:t>
                      </a:r>
                    </a:p>
                  </a:txBody>
                  <a:tcPr>
                    <a:solidFill>
                      <a:srgbClr val="16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8EE"/>
                          </a:solidFill>
                          <a:latin typeface="Calibri"/>
                        </a:rPr>
                        <a:t>POST /definitions — data</a:t>
                      </a:r>
                    </a:p>
                  </a:txBody>
                  <a:tcPr>
                    <a:solidFill>
                      <a:srgbClr val="161D33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502920" y="6510528"/>
            <a:ext cx="91440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C7CAD6"/>
                </a:solidFill>
                <a:latin typeface="Calibri"/>
              </a:rPr>
              <a:t>One Finance UX  ·  confidential  ·  architecture Q&amp;A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510528"/>
            <a:ext cx="10972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C7CAD6"/>
                </a:solidFill>
                <a:latin typeface="Calibr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18CF8"/>
                </a:solidFill>
                <a:latin typeface="Calibri"/>
              </a:rPr>
              <a:t>Q  ·  ZERO-CODE PHASE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E6E8EE"/>
                </a:solidFill>
                <a:latin typeface="Calibri"/>
              </a:rPr>
              <a:t>There is no zero-code substitute.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7CAD6"/>
                </a:solidFill>
                <a:latin typeface="Calibri"/>
              </a:rPr>
              <a:t>ServiceNow, Power Automate, and n8n can land a ticket. A vendor control-tower RFP can copy screens into a lake. Neither folds distinct keys, ignores a stale run id, nor 404s an unentitled row.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00784"/>
            <a:ext cx="5431536" cy="1572768"/>
          </a:xfrm>
          <a:prstGeom prst="roundRect">
            <a:avLst/>
          </a:prstGeom>
          <a:solidFill>
            <a:srgbClr val="161D33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755648"/>
            <a:ext cx="5212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BBF24"/>
                </a:solidFill>
                <a:latin typeface="Calibri"/>
              </a:rPr>
              <a:t>TICKET / RPA / RFP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011680"/>
            <a:ext cx="2587752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BBF24"/>
                </a:solidFill>
                <a:latin typeface="Calibri"/>
              </a:rPr>
              <a:t>Open a chase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55264" y="2011680"/>
            <a:ext cx="2587752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BBF24"/>
                </a:solidFill>
                <a:latin typeface="Calibri"/>
              </a:rPr>
              <a:t>Copy Motif + Helix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651760"/>
            <a:ext cx="2587752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BBF24"/>
                </a:solidFill>
                <a:latin typeface="Calibri"/>
              </a:rPr>
              <a:t>New product = new flow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55264" y="2651760"/>
            <a:ext cx="2587752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BBF24"/>
                </a:solidFill>
                <a:latin typeface="Calibri"/>
              </a:rPr>
              <a:t>No CEES 404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4456" y="2225040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F87171"/>
                </a:solidFill>
                <a:latin typeface="Calibri"/>
              </a:rPr>
              <a:t>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18504" y="1700784"/>
            <a:ext cx="5431536" cy="1572768"/>
          </a:xfrm>
          <a:prstGeom prst="roundRect">
            <a:avLst/>
          </a:prstGeom>
          <a:solidFill>
            <a:srgbClr val="161D33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755648"/>
            <a:ext cx="5212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34D399"/>
                </a:solidFill>
                <a:latin typeface="Calibri"/>
              </a:rPr>
              <a:t>WORKING POC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9944" y="2011680"/>
            <a:ext cx="2587752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Distinct-key fold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70848" y="2011680"/>
            <a:ext cx="2587752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Stale runId ignored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9944" y="2651760"/>
            <a:ext cx="2587752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Fail-closed entitle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70848" y="2651760"/>
            <a:ext cx="2587752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REV-ACC is a row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364992"/>
            <a:ext cx="11247120" cy="305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E6E8EE"/>
                </a:solidFill>
                <a:latin typeface="Calibri"/>
              </a:rPr>
              <a:t>▸  Zero new code means N shadow folds — spreadsheets, DAGs, dashboards — not a saving.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10528"/>
            <a:ext cx="91440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C7CAD6"/>
                </a:solidFill>
                <a:latin typeface="Calibri"/>
              </a:rPr>
              <a:t>One Finance UX  ·  confidential  ·  architecture Q&amp;A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510528"/>
            <a:ext cx="10972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C7CAD6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18CF8"/>
                </a:solidFill>
                <a:latin typeface="Calibri"/>
              </a:rPr>
              <a:t>Q  ·  USE IT AS-IS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E6E8EE"/>
                </a:solidFill>
                <a:latin typeface="Calibri"/>
              </a:rPr>
              <a:t>Yes. That is the cheapest path that works.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7CAD6"/>
                </a:solidFill>
                <a:latin typeface="Calibri"/>
              </a:rPr>
              <a:t>Phase 1 is the app you can run today: hub on :7070, console on :5173, simulator on :7081. Origins POST JSON. No Kafka, no Redis, no AWS account.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11247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7CAD6"/>
                </a:solidFill>
                <a:latin typeface="Calibri"/>
              </a:rPr>
              <a:t>Three processes. Same JSON Schema in production. Bus is optional later.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93392"/>
            <a:ext cx="1956816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232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7CAD6"/>
                </a:solidFill>
                <a:latin typeface="Calibri"/>
              </a:rPr>
              <a:t>Origin / simulator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993392"/>
            <a:ext cx="256032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818CF8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25496" y="1993392"/>
            <a:ext cx="1956816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POST /api/events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37176" y="1993392"/>
            <a:ext cx="256032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818CF8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48072" y="1993392"/>
            <a:ext cx="1956816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Hub + 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9752" y="1993392"/>
            <a:ext cx="256032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818CF8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70648" y="1993392"/>
            <a:ext cx="1956816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18CF8"/>
                </a:solidFill>
                <a:latin typeface="Calibri"/>
              </a:rPr>
              <a:t>REST + SSE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82328" y="1993392"/>
            <a:ext cx="256032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818CF8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93224" y="1993392"/>
            <a:ext cx="1956816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962656"/>
            <a:ext cx="11247120" cy="3456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E6E8EE"/>
                </a:solidFill>
                <a:latin typeface="Calibri"/>
              </a:rPr>
              <a:t>▸  Kafka, Redis, and Airflow can sit behind that API later. They do not replace the product.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6E8EE"/>
                </a:solidFill>
                <a:latin typeface="Calibri"/>
              </a:rPr>
              <a:t>▸  You save a cloud account, a new broker, and a cache you would then have to distrust.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10528"/>
            <a:ext cx="91440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C7CAD6"/>
                </a:solidFill>
                <a:latin typeface="Calibri"/>
              </a:rPr>
              <a:t>One Finance UX  ·  confidential  ·  architecture Q&amp;A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510528"/>
            <a:ext cx="10972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C7CAD6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18CF8"/>
                </a:solidFill>
                <a:latin typeface="Calibri"/>
              </a:rPr>
              <a:t>LATER MIX — OPTIONAL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E6E8EE"/>
                </a:solidFill>
                <a:latin typeface="Calibri"/>
              </a:rPr>
              <a:t>If the bank already owns a bus, plug it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7CAD6"/>
                </a:solidFill>
                <a:latin typeface="Calibri"/>
              </a:rPr>
              <a:t>The fold does not change when Motif writes a topic instead of HTTP. Production is a thin adapter plus a real Helix URL. Completion is another fact with the same run id.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11247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7CAD6"/>
                </a:solidFill>
                <a:latin typeface="Calibri"/>
              </a:rPr>
              <a:t>Same contract. Same fold. Airflow may load a warehouse after GENERATED — not decide Helix.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93392"/>
            <a:ext cx="1569720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232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7CAD6"/>
                </a:solidFill>
                <a:latin typeface="Calibri"/>
              </a:rPr>
              <a:t>Motif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7504" y="1993392"/>
            <a:ext cx="256032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818CF8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38400" y="1993392"/>
            <a:ext cx="1569720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18CF8"/>
                </a:solidFill>
                <a:latin typeface="Calibri"/>
              </a:rPr>
              <a:t>Existing Kafka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2984" y="1993392"/>
            <a:ext cx="256032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818CF8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3880" y="1993392"/>
            <a:ext cx="1569720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18CF8"/>
                </a:solidFill>
                <a:latin typeface="Calibri"/>
              </a:rPr>
              <a:t>Adapter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8464" y="1993392"/>
            <a:ext cx="256032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818CF8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993392"/>
            <a:ext cx="1569720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Same /api/events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3944" y="1993392"/>
            <a:ext cx="256032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818CF8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44840" y="1993392"/>
            <a:ext cx="1569720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Same fold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69424" y="1993392"/>
            <a:ext cx="256032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818CF8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0320" y="1993392"/>
            <a:ext cx="1569720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Real Helix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2962656"/>
            <a:ext cx="11247120" cy="3456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E6E8EE"/>
                </a:solidFill>
                <a:latin typeface="Calibri"/>
              </a:rPr>
              <a:t>▸  Do not introduce a bus to justify the product. Introduce it only if the estate already has 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91440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C7CAD6"/>
                </a:solidFill>
                <a:latin typeface="Calibri"/>
              </a:rPr>
              <a:t>One Finance UX  ·  confidential  ·  architecture Q&amp;A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6510528"/>
            <a:ext cx="10972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C7CAD6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18CF8"/>
                </a:solidFill>
                <a:latin typeface="Calibri"/>
              </a:rPr>
              <a:t>WHY ON-PREM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E6E8EE"/>
                </a:solidFill>
                <a:latin typeface="Calibri"/>
              </a:rPr>
              <a:t>The close stays in the bank.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7CAD6"/>
                </a:solidFill>
                <a:latin typeface="Calibri"/>
              </a:rPr>
              <a:t>Ready / Blocked, run ids, and who signed are the control plane of the close. They belong in the DC next to Motif, CEES, and Oracle — not in a second cloud IAM plane.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00784"/>
            <a:ext cx="5431536" cy="1572768"/>
          </a:xfrm>
          <a:prstGeom prst="roundRect">
            <a:avLst/>
          </a:prstGeom>
          <a:solidFill>
            <a:srgbClr val="161D33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755648"/>
            <a:ext cx="5212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34D399"/>
                </a:solidFill>
                <a:latin typeface="Calibri"/>
              </a:rPr>
              <a:t>ON-PREM, THIS 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011680"/>
            <a:ext cx="2587752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Facts + sign-off in the DC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55264" y="2011680"/>
            <a:ext cx="2587752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Reuse paid Kafka / MQ / Oracle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651760"/>
            <a:ext cx="2587752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Three JVM processes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55264" y="2651760"/>
            <a:ext cx="2587752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Next outcome is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4456" y="2225040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F87171"/>
                </a:solidFill>
                <a:latin typeface="Calibri"/>
              </a:rPr>
              <a:t>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18504" y="1700784"/>
            <a:ext cx="5431536" cy="1572768"/>
          </a:xfrm>
          <a:prstGeom prst="roundRect">
            <a:avLst/>
          </a:prstGeom>
          <a:solidFill>
            <a:srgbClr val="161D33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755648"/>
            <a:ext cx="5212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87171"/>
                </a:solidFill>
                <a:latin typeface="Calibri"/>
              </a:rPr>
              <a:t>AWS / AZURE / PAID TOWER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9944" y="2011680"/>
            <a:ext cx="2587752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Calibri"/>
              </a:rPr>
              <a:t>Egress + residency risk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70848" y="2011680"/>
            <a:ext cx="2587752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Calibri"/>
              </a:rPr>
              <a:t>Burst bill at COB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9944" y="2651760"/>
            <a:ext cx="2587752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Calibri"/>
              </a:rPr>
              <a:t>Second IAM plane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70848" y="2651760"/>
            <a:ext cx="2587752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Calibri"/>
              </a:rPr>
              <a:t>Lake copy of Motif / Helix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364992"/>
            <a:ext cx="11247120" cy="305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E6E8EE"/>
                </a:solidFill>
                <a:latin typeface="Calibri"/>
              </a:rPr>
              <a:t>▸  A paid control-tower that copies books into a lake is the opposite of subscribe-don’t-replace.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10528"/>
            <a:ext cx="91440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C7CAD6"/>
                </a:solidFill>
                <a:latin typeface="Calibri"/>
              </a:rPr>
              <a:t>One Finance UX  ·  confidential  ·  architecture Q&amp;A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510528"/>
            <a:ext cx="10972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C7CAD6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18CF8"/>
                </a:solidFill>
                <a:latin typeface="Calibri"/>
              </a:rPr>
              <a:t>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E6E8EE"/>
                </a:solidFill>
                <a:latin typeface="Calibri"/>
              </a:rPr>
              <a:t>Build once. Or pay forever in copies.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7CAD6"/>
                </a:solidFill>
                <a:latin typeface="Calibri"/>
              </a:rPr>
              <a:t>The alternative is not zero code. It is FOBO in a spreadsheet, 15C3 in Control-M, PnL in a checklist, RTB in tickets — four answers that drift the first night SAP double-posts.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00784"/>
            <a:ext cx="5431536" cy="1572768"/>
          </a:xfrm>
          <a:prstGeom prst="roundRect">
            <a:avLst/>
          </a:prstGeom>
          <a:solidFill>
            <a:srgbClr val="161D33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755648"/>
            <a:ext cx="5212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34D399"/>
                </a:solidFill>
                <a:latin typeface="Calibri"/>
              </a:rPr>
              <a:t>ONE SHARED FOLD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011680"/>
            <a:ext cx="2587752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One SAP fact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55264" y="2011680"/>
            <a:ext cx="2587752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Counted once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651760"/>
            <a:ext cx="2587752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FOBO + 15C3 + PnL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55264" y="2651760"/>
            <a:ext cx="2587752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One audit pack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4456" y="2225040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F87171"/>
                </a:solidFill>
                <a:latin typeface="Calibri"/>
              </a:rPr>
              <a:t>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18504" y="1700784"/>
            <a:ext cx="5431536" cy="1572768"/>
          </a:xfrm>
          <a:prstGeom prst="roundRect">
            <a:avLst/>
          </a:prstGeom>
          <a:solidFill>
            <a:srgbClr val="161D33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755648"/>
            <a:ext cx="5212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87171"/>
                </a:solidFill>
                <a:latin typeface="Calibri"/>
              </a:rPr>
              <a:t>N SHADOW FOLDS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9944" y="2011680"/>
            <a:ext cx="2587752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Calibri"/>
              </a:rPr>
              <a:t>Spreadsheet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70848" y="2011680"/>
            <a:ext cx="2587752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Calibri"/>
              </a:rPr>
              <a:t>Control-M DAG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9944" y="2651760"/>
            <a:ext cx="2587752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Calibri"/>
              </a:rPr>
              <a:t>Checklist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70848" y="2651760"/>
            <a:ext cx="2587752" cy="56692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Calibri"/>
              </a:rPr>
              <a:t>Ticket queue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364992"/>
            <a:ext cx="11247120" cy="305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E6E8EE"/>
                </a:solidFill>
                <a:latin typeface="Calibri"/>
              </a:rPr>
              <a:t>▸  Value is controller minutes, SLA misses, rework, and audit packs — executive-brief.md §4.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10528"/>
            <a:ext cx="91440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C7CAD6"/>
                </a:solidFill>
                <a:latin typeface="Calibri"/>
              </a:rPr>
              <a:t>One Finance UX  ·  confidential  ·  architecture Q&amp;A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510528"/>
            <a:ext cx="10972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C7CAD6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18CF8"/>
                </a:solidFill>
                <a:latin typeface="Calibri"/>
              </a:rPr>
              <a:t>GENERIC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E6E8EE"/>
                </a:solidFill>
                <a:latin typeface="Calibri"/>
              </a:rPr>
              <a:t>The next use case is a row, not a release.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7CAD6"/>
                </a:solidFill>
                <a:latin typeface="Calibri"/>
              </a:rPr>
              <a:t>An outcome is a question, feeds, an SLA, and an on-ready command. A kit is sources, destinations, embed, and verbs. FOBO is the first row. There is no if (FOBO) in Java.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11247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7CAD6"/>
                </a:solidFill>
                <a:latin typeface="Calibri"/>
              </a:rPr>
              <a:t>New command type = one controller bean. New kit verb = data.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93392"/>
            <a:ext cx="1725168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18CF8"/>
                </a:solidFill>
                <a:latin typeface="Calibri"/>
              </a:rPr>
              <a:t>Definition (data)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2952" y="1993392"/>
            <a:ext cx="256032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818CF8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93848" y="1993392"/>
            <a:ext cx="1725168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Same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3880" y="1993392"/>
            <a:ext cx="256032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818CF8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84776" y="1993392"/>
            <a:ext cx="1725168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FOBO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4808" y="1993392"/>
            <a:ext cx="1725168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15C3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44840" y="1993392"/>
            <a:ext cx="1725168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PnL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24872" y="1993392"/>
            <a:ext cx="1725168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Month-end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962656"/>
            <a:ext cx="11247120" cy="3456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E6E8EE"/>
                </a:solidFill>
                <a:latin typeface="Calibri"/>
              </a:rPr>
              <a:t>▸  Onboard the next group unit with POST /api/outcomes/definitions — not a new service.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91440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C7CAD6"/>
                </a:solidFill>
                <a:latin typeface="Calibri"/>
              </a:rPr>
              <a:t>One Finance UX  ·  confidential  ·  architecture Q&amp;A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510528"/>
            <a:ext cx="10972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C7CAD6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18CF8"/>
                </a:solidFill>
                <a:latin typeface="Calibri"/>
              </a:rPr>
              <a:t>STAY THIN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E6E8EE"/>
                </a:solidFill>
                <a:latin typeface="Calibri"/>
              </a:rPr>
              <a:t>What we refuse to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7CAD6"/>
                </a:solidFill>
                <a:latin typeface="Calibri"/>
              </a:rPr>
              <a:t>This layer dies when it becomes a second Motif, a second Helix, or a second bus. Thickness is the failure mode. Stay a subscriber.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11247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7CAD6"/>
                </a:solidFill>
                <a:latin typeface="Calibri"/>
              </a:rPr>
              <a:t>If a design needs these boxes, it is the wrong layer.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93392"/>
            <a:ext cx="1776984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This 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4768" y="1993392"/>
            <a:ext cx="256032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87171"/>
                </a:solidFill>
                <a:latin typeface="Calibri"/>
              </a:rPr>
              <a:t>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45664" y="1993392"/>
            <a:ext cx="1776984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Calibri"/>
              </a:rPr>
              <a:t>Kafka broker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7512" y="1993392"/>
            <a:ext cx="1776984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Calibri"/>
              </a:rPr>
              <a:t>Motif grid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993392"/>
            <a:ext cx="1776984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Calibri"/>
              </a:rPr>
              <a:t>Helix clone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41208" y="1993392"/>
            <a:ext cx="1776984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Calibri"/>
              </a:rPr>
              <a:t>CEES rewrite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73056" y="1993392"/>
            <a:ext cx="1776984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Calibri"/>
              </a:rPr>
              <a:t>LLM on Ready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962656"/>
            <a:ext cx="11247120" cy="3456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E6E8EE"/>
                </a:solidFill>
                <a:latin typeface="Calibri"/>
              </a:rPr>
              <a:t>▸  No Kafka / Solace brokers. No Motif books grid. No Helix recon clone. No CEES replacement.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6E8EE"/>
                </a:solidFill>
                <a:latin typeface="Calibri"/>
              </a:rPr>
              <a:t>▸  No second mobile product. The entitled board already works on a phone between meetings.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10528"/>
            <a:ext cx="91440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C7CAD6"/>
                </a:solidFill>
                <a:latin typeface="Calibri"/>
              </a:rPr>
              <a:t>One Finance UX  ·  confidential  ·  architecture Q&amp;A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6510528"/>
            <a:ext cx="10972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C7CAD6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18CF8"/>
                </a:solidFill>
                <a:latin typeface="Calibri"/>
              </a:rPr>
              <a:t>MINUTE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E6E8EE"/>
                </a:solidFill>
                <a:latin typeface="Calibri"/>
              </a:rPr>
              <a:t>Six lines for the room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7CAD6"/>
                </a:solidFill>
                <a:latin typeface="Calibri"/>
              </a:rPr>
              <a:t>These are the decisions the minutes should carry out. Everything else is implementation detail behind the same ingest contract.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11247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7CAD6"/>
                </a:solidFill>
                <a:latin typeface="Calibri"/>
              </a:rPr>
              <a:t>Subscribe → reuse → one fold → same ingest → FOBO first → stay thin.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93392"/>
            <a:ext cx="1569720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Subscribe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7504" y="1993392"/>
            <a:ext cx="256032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818CF8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38400" y="1993392"/>
            <a:ext cx="1569720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18CF8"/>
                </a:solidFill>
                <a:latin typeface="Calibri"/>
              </a:rPr>
              <a:t>Reuse the bus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2984" y="1993392"/>
            <a:ext cx="256032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818CF8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3880" y="1993392"/>
            <a:ext cx="1569720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One fold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8464" y="1993392"/>
            <a:ext cx="256032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818CF8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993392"/>
            <a:ext cx="1569720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18CF8"/>
                </a:solidFill>
                <a:latin typeface="Calibri"/>
              </a:rPr>
              <a:t>Same ingest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3944" y="1993392"/>
            <a:ext cx="256032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818CF8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44840" y="1993392"/>
            <a:ext cx="1569720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FOBO first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69424" y="1993392"/>
            <a:ext cx="256032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818CF8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0320" y="1993392"/>
            <a:ext cx="1569720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Stay thin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2962656"/>
            <a:ext cx="11247120" cy="3456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E6E8EE"/>
                </a:solidFill>
                <a:latin typeface="Calibri"/>
              </a:rPr>
              <a:t>▸  This hub is the only Ready / Blocked system of decision. First production outcome: FOBO.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6E8EE"/>
                </a:solidFill>
                <a:latin typeface="Calibri"/>
              </a:rPr>
              <a:t>▸  Airflow only after READY. CEES fail-closed. Non-goals stay binding so the layer stays thin.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91440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C7CAD6"/>
                </a:solidFill>
                <a:latin typeface="Calibri"/>
              </a:rPr>
              <a:t>One Finance UX  ·  confidential  ·  architecture Q&amp;A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6510528"/>
            <a:ext cx="10972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C7CAD6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18CF8"/>
                </a:solidFill>
                <a:latin typeface="Calibri"/>
              </a:rPr>
              <a:t>EVIDENCE, NOT SLIDEWARE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E6E8EE"/>
                </a:solidFill>
                <a:latin typeface="Calibri"/>
              </a:rPr>
              <a:t>Point at the working product.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7CAD6"/>
                </a:solidFill>
                <a:latin typeface="Calibri"/>
              </a:rPr>
              <a:t>A counter-proposal is a replacement only if it can show the same four proofs in a running system — not in a vendor slide.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11247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7CAD6"/>
                </a:solidFill>
                <a:latin typeface="Calibri"/>
              </a:rPr>
              <a:t>Named blocker + run-id + 404 + onboard-as-data. Missing one is not this product.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93392"/>
            <a:ext cx="2537460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Engine tests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5244" y="1993392"/>
            <a:ext cx="256032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818CF8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06140" y="1993392"/>
            <a:ext cx="2537460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Drive FOBO 300/300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8464" y="1993392"/>
            <a:ext cx="256032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818CF8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993392"/>
            <a:ext cx="2537460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Onboard as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1684" y="1993392"/>
            <a:ext cx="256032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818CF8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12580" y="1993392"/>
            <a:ext cx="2537460" cy="841248"/>
          </a:xfrm>
          <a:prstGeom prst="roundRect">
            <a:avLst/>
          </a:prstGeom>
          <a:solidFill>
            <a:srgbClr val="12182C"/>
          </a:solidFill>
          <a:ln w="15875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18CF8"/>
                </a:solidFill>
                <a:latin typeface="Calibri"/>
              </a:rPr>
              <a:t>helix-walkthrough.mp4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962656"/>
            <a:ext cx="11247120" cy="3456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E6E8EE"/>
                </a:solidFill>
                <a:latin typeface="Calibri"/>
              </a:rPr>
              <a:t>▸  OutcomeEngineTest: distinct keys, FAILED blocks, stale runId ignored. Then Helix → Reports GENERATED.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6E8EE"/>
                </a:solidFill>
                <a:latin typeface="Calibri"/>
              </a:rPr>
              <a:t>▸  If they cannot demo those four proofs, they are proposing a bus, a DAG, or a dashboard.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10528"/>
            <a:ext cx="91440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C7CAD6"/>
                </a:solidFill>
                <a:latin typeface="Calibri"/>
              </a:rPr>
              <a:t>One Finance UX  ·  confidential  ·  architecture Q&amp;A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6510528"/>
            <a:ext cx="10972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C7CAD6"/>
                </a:solidFill>
                <a:latin typeface="Calibri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