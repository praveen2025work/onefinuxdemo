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ARCHITECTURE GROUP  ·  CEO / CIO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One Finance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A thin on-prem outcome layer. It subscribes to facts the bank already produces and answers one question per close: Ready, Blocked, or Delayed — and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Subscribe. Fold. Show one light. Do not replace Motif or Helix.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23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CAD6"/>
                </a:solidFill>
                <a:latin typeface="Calibri"/>
              </a:rPr>
              <a:t>Motif · CATS · Helix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Hub 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Ready /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3224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One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Kafka, SNS, Redis, Airflow, Lambda move or schedule work. They are not this product.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Phase 1 runs as-is: HTTP ingest, H2, three processes. No new cloud bill or broker licence.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Endorse the fold. Reuse the estate.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The room is asked to name one system of decision — not to buy a stack. The bus, books, and rec the bank already paid for stay where they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Four decisions to minute. First production outcome is FOBO.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Endorse the 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524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614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Reuse Kafka / MQ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FOBO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168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258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Next outcome =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Build the hub + entitled console in-house. It is the only Ready / Blocked system of decision.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Reuse Kafka, Solace, or IBM MQ if they exist. Do not buy AWS to get a close.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The answer is scattered.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“Is it safe to run this process yet?” lives in five screens and five status words. People chase. Closes run late. Audit asks who knew — nobody holds the picture.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Calibri"/>
              </a:rPr>
              <a:t>TODAY — FIVE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991209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Motif: MB014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8721" y="2048256"/>
            <a:ext cx="991209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CATS: posted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3083" y="2048256"/>
            <a:ext cx="991209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Helix: ran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7444" y="2048256"/>
            <a:ext cx="991209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SAP: booked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1806" y="2048256"/>
            <a:ext cx="991209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Nobody folds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6" y="209092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libri"/>
              </a:rPr>
              <a:t>NEEDED — ONE STITCH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This COB · this 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039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Named blocker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0848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One Ready / Blocked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0130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One human 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Without this layer every team writes a different Ready / Blocked — spreadsheet, DAG, or dashboard.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WHAT THIS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Build the decision. Reuse the pipes.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The product is the fold and the entitled board. Books grids, rec screens, brokers, and warehouses stay the systems of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One path. Command once. Fail closed if the row is not entitled.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23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CAD6"/>
                </a:solidFill>
                <a:latin typeface="Calibri"/>
              </a:rPr>
              <a:t>Ingest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Distinct-key 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Command 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404 if not entitled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3224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Audit + 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80944"/>
            <a:ext cx="11247120" cy="868680"/>
          </a:xfrm>
          <a:prstGeom prst="round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54096"/>
            <a:ext cx="10881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Calibri"/>
              </a:rPr>
              <a:t>We reuse</a:t>
            </a:r>
          </a:p>
          <a:p>
            <a:r>
              <a:rPr sz="1500" b="0">
                <a:solidFill>
                  <a:srgbClr val="E6E8EE"/>
                </a:solidFill>
                <a:latin typeface="Calibri"/>
              </a:rPr>
              <a:t>Motif, Helix, CATS, CEES, Kafka / MQ already paid, Oracle, Airflow after READY.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41064"/>
            <a:ext cx="11247120" cy="868680"/>
          </a:xfrm>
          <a:prstGeom prst="round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14216"/>
            <a:ext cx="10881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Calibri"/>
              </a:rPr>
              <a:t>We never</a:t>
            </a:r>
          </a:p>
          <a:p>
            <a:r>
              <a:rPr sz="1500" b="0">
                <a:solidFill>
                  <a:srgbClr val="E6E8EE"/>
                </a:solidFill>
                <a:latin typeface="Calibri"/>
              </a:rPr>
              <a:t>Rebuild books grids. Kafka in the browser. if (FOBO). LLM on the fold.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CATEGORY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They move bytes. We decide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A topic offset, a queue receipt, or a cache key proves produce / consume. It does not name R-2031 BLOCKED on MB014, ignore a stale run, or 404 an unentitled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5431536" cy="1051560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Calibri"/>
              </a:rPr>
              <a:t>TRANSPORT &amp; GLUE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Kafka / IBM MQ / AMQ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4812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SNS · SQS · EventBridge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Lambda / Functions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5716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Redis 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051304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700784"/>
            <a:ext cx="5431536" cy="1051560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libri"/>
              </a:rPr>
              <a:t>THIS FOLD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Distinct source keys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0396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Named blocker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runId once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1300" y="2048256"/>
            <a:ext cx="1257300" cy="6126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CEES 404 · audit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2862072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48056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Calibri"/>
                        </a:rPr>
                        <a:t>Tool they name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Calibri"/>
                        </a:rPr>
                        <a:t>Good at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Calibri"/>
                        </a:rPr>
                        <a:t>Not a close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Kafka / IBM MQ / AMQ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Durable log, fan-out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An offset is not BLOCKED on MB014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SNS + SQS / Service Bus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Queues and pub-sub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A receipt is not Ready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Lambda / Functions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Glue and burst compute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Re-implements the hub, off-prem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Redis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Second truth if it owns Ready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Airflow / Control-M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Batch after READY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Polling Motif recreates the late close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Q  ·  KAFKA / IBM MQ / ACTIVEMQ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Use the bus. Do not confuse it with the fold.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A message on motif.book.lifecycle proves the producer wrote and the consumer read. FOBO still needs distinct books, a named blocker, and one Helix POST with a run 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Keep the broker. Adapter is thin. Browser never touches the bus.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23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CAD6"/>
                </a:solidFill>
                <a:latin typeface="Calibri"/>
              </a:rPr>
              <a:t>Motif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Kafka / MQ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Thin 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POST /api/events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3224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Fold → Helix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Kafka can store 300 MASTERBOOK_READY. The hub counts distinct keys, then POSTs Helix once.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IBM MQ and ActiveMQ are the same category — a good adapter behind the same API. REST + SSE only in the browser.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Q  ·  AWS SNS, SQS, LAMBDA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Cloud messaging is not an outcome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SNS, SQS, EventBridge, Event Grid, and Service Bus have the same gap as Kafka: they move facts. Lambda or Step Functions rewrite this hub as billed invocations at COB burst — and the evidence leaves the bank.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7171"/>
                </a:solidFill>
                <a:latin typeface="Calibri"/>
              </a:rPr>
              <a:t>AWS / AZURE GLUE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SNS / SQS / EventBridge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4812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Lambda at COB burst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Close keys leave the 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571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Second IAM + bill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09092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libri"/>
              </a:rPr>
              <a:t>ON-PREM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Same fold as the POC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039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runId + sign-off stay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Reuse paid bus if any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130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No new cloud control 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Do not buy a cloud account to get Ready / Blocked. If a bus exists, adapt it; if not, HTTP is enough for phase 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Q  ·  REDIS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We do not use Redis. We do not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The fold is event-sourced. Replay the store and Ready / Blocked comes back. Putting that answer in Redis creates a second truth the moment a node fails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libri"/>
              </a:rPr>
              <a:t>SYSTEM OF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1700784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Event store (H2 → Oracle)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8296" y="2048256"/>
            <a:ext cx="1700784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Rebuild the fold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2" y="2048256"/>
            <a:ext cx="1700784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Ready lives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09092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Calibri"/>
              </a:rPr>
              <a:t>OPTIONAL LATER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2048256"/>
            <a:ext cx="1700784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Redis read-scale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048256"/>
            <a:ext cx="1700784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Never owns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57816" y="2048256"/>
            <a:ext cx="1700784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Skip in 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Phase 1: no cache licence. H2 now, Oracle later — already on the estate.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Q  ·  AIRFLOW / CONTROL-M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Batch after READY. Never instead of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A scheduler is good at warehouse loads and file drops after the light is green. If it polls Motif to decide Helix, you have rebuilt the late close inside a DAG.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Green light first. Batch second. Never Motif-poll → Helix.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956816" cy="722376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23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CAD6"/>
                </a:solidFill>
                <a:latin typeface="Calibri"/>
              </a:rPr>
              <a:t>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93392"/>
            <a:ext cx="256032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1993392"/>
            <a:ext cx="1956816" cy="722376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Fold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1993392"/>
            <a:ext cx="256032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993392"/>
            <a:ext cx="1956816" cy="722376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Command Helix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993392"/>
            <a:ext cx="256032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993392"/>
            <a:ext cx="1956816" cy="722376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1993392"/>
            <a:ext cx="256032" cy="722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3224" y="1993392"/>
            <a:ext cx="1956816" cy="722376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Then Airflow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62072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48056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Calibri"/>
                        </a:rPr>
                        <a:t>Airflow alone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18CF8"/>
                          </a:solidFill>
                          <a:latin typeface="Calibri"/>
                        </a:rPr>
                        <a:t>This fold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Same book twice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Easy to double-count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Distinct sourceKey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Book 147 fails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Generic job error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Named blocker; RTB replay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Old Helix run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Can land on today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Stale runId ignored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Motif 20s late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Next poke, often minutes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Event updates now</a:t>
                      </a:r>
                    </a:p>
                  </a:txBody>
                  <a:tcPr>
                    <a:solidFill>
                      <a:srgbClr val="1218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Next outcome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New DAG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6E8EE"/>
                          </a:solidFill>
                          <a:latin typeface="Calibri"/>
                        </a:rPr>
                        <a:t>POST /definitions — data</a:t>
                      </a:r>
                    </a:p>
                  </a:txBody>
                  <a:tcPr>
                    <a:solidFill>
                      <a:srgbClr val="161D33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Q  ·  ZERO-CODE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There is no zero-code substitute.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ServiceNow, Power Automate, and n8n can land a ticket. A vendor control-tower RFP can copy screens into a lake. Neither folds distinct keys, ignores a stale run id, nor 404s an unentitled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Calibri"/>
              </a:rPr>
              <a:t>TICKET / RPA / RFP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Open a chase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4812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Copy Motif + Helix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New product = new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571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No CEES 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09092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libri"/>
              </a:rPr>
              <a:t>WORKING POC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Distinct-key fold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039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Stale runId ignored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Fail-closed entitle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130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REV-ACC is a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Zero new code means N shadow folds — spreadsheets, DAGs, dashboards — not a saving.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Q  ·  USE IT AS-IS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Yes. That is the cheapest path that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Phase 1 is the app you can run today: hub on :7070, console on :5173, simulator on :7081. Origins POST JSON. No Kafka, no Redis, no AWS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Three processes. Same JSON Schema in production. Bus is optional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23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CAD6"/>
                </a:solidFill>
                <a:latin typeface="Calibri"/>
              </a:rPr>
              <a:t>Origin /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POST /api/events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Hub + 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REST + 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3224" y="1993392"/>
            <a:ext cx="1956816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Kafka, Redis, and Airflow can sit behind that API later. They do not replace the product.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You save a cloud account, a new broker, and a cache you would then have to distrust.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LATER MIX —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If the bank already owns a bus, plug it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The fold does not change when Motif writes a topic instead of HTTP. Production is a thin adapter plus a real Helix URL. Completion is another fact with the same run 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Same contract. Same fold. Airflow may load a warehouse after GENERATED — not decide Helix.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23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7CAD6"/>
                </a:solidFill>
                <a:latin typeface="Calibri"/>
              </a:rPr>
              <a:t>Motif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750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40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Existing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298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388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Same /api/events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394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484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Same 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942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032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Real Helix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Do not introduce a bus to justify the product. Introduce it only if the estate already has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WHY ON-PREM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The close stays in the bank.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Ready / Blocked, run ids, and who signed are the control plane of the close. They belong in the DC next to Motif, CEES, and Oracle — not in a second cloud IAM plane.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libri"/>
              </a:rPr>
              <a:t>ON-PREM, THIS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Facts + sign-off in the 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4812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Reuse paid Kafka / MQ / Oracle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Three JVM processes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571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Next outcome is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09092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7171"/>
                </a:solidFill>
                <a:latin typeface="Calibri"/>
              </a:rPr>
              <a:t>AWS / AZURE / PAID TOWER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Egress + residency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039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Burst bill at COB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Second IAM plane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130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Lake copy of Motif / Helix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A paid control-tower that copies books into a lake is the opposite of subscribe-don’t-replace.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Build once. Or pay forever in copies.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The alternative is not zero code. It is FOBO in a spreadsheet, 15C3 in Control-M, PnL in a checklist, RTB in tickets — four answers that drift the first night SAP double-posts.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Calibri"/>
              </a:rPr>
              <a:t>ONE SHARED FOLD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One SAP 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4812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Counted once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FOBO + 15C3 + PnL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571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One audit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090928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700784"/>
            <a:ext cx="5431536" cy="1170432"/>
          </a:xfrm>
          <a:prstGeom prst="roundRect">
            <a:avLst/>
          </a:prstGeom>
          <a:solidFill>
            <a:srgbClr val="161D33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55648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87171"/>
                </a:solidFill>
                <a:latin typeface="Calibri"/>
              </a:rPr>
              <a:t>N SHADOW FOLDS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Spreadsheet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0396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Control-M DAG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1300" y="2048256"/>
            <a:ext cx="1257300" cy="731520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Ticket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Value is controller minutes, SLA misses, rework, and audit packs — executive-brief.md §4.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GENERIC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The next use case is a row, not a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An outcome is a question, feeds, an SLA, and an on-ready command. A kit is sources, destinations, embed, and verbs. FOBO is the first row. There is no if (FOBO) in Java.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New command type = one controller bean. New kit verb =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725168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Definition (data)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952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3848" y="1993392"/>
            <a:ext cx="1725168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Same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880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4776" y="1993392"/>
            <a:ext cx="1725168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FOBO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1993392"/>
            <a:ext cx="1725168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15C3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4840" y="1993392"/>
            <a:ext cx="1725168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PnL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24872" y="1993392"/>
            <a:ext cx="1725168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Month-end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Onboard the next group unit with POST /api/outcomes/definitions — not a new service.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STAY THIN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What we refuse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This layer dies when it becomes a second Motif, a second Helix, or a second bus. Thickness is the failure mode. Stay a subscriber.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If a design needs these boxes, it is the wrong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776984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This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4768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7171"/>
                </a:solidFill>
                <a:latin typeface="Calibri"/>
              </a:rPr>
              <a:t>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45664" y="1993392"/>
            <a:ext cx="1776984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Kafka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7512" y="1993392"/>
            <a:ext cx="1776984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Motif grid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93392"/>
            <a:ext cx="1776984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Helix clone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1208" y="1993392"/>
            <a:ext cx="1776984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CEES rewrite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73056" y="1993392"/>
            <a:ext cx="1776984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Calibri"/>
              </a:rPr>
              <a:t>LLM 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No second mobile product. The entitled board already works on a phone between meetings.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MINUTE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Six lines for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These are the decisions the minutes should carry out. Everything else is implementation detail behind the same ingest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Subscribe → reuse → one fold → same ingest → FOBO first → stay thin.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Subscribe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750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40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Reuse the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298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388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One 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Same 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394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484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FOBO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942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0320" y="1993392"/>
            <a:ext cx="156972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Stay thin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Airflow only after READY. CEES fail-closed. Non-goals stay binding so the layer stays thin.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8CF8"/>
                </a:solidFill>
                <a:latin typeface="Calibri"/>
              </a:rPr>
              <a:t>EVIDENCE, NOT SLIDEWARE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E8EE"/>
                </a:solidFill>
                <a:latin typeface="Calibri"/>
              </a:rPr>
              <a:t>Point at the working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CAD6"/>
                </a:solidFill>
                <a:latin typeface="Calibri"/>
              </a:rPr>
              <a:t>A counter-proposal is a replacement only if it can show the same four proofs in a running system — not in a vendor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7CAD6"/>
                </a:solidFill>
                <a:latin typeface="Calibri"/>
              </a:rPr>
              <a:t>Named blocker + run-id + 404 + onboard-as-data. Missing one is not this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Engine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524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614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Drive FOBO 300/300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Onboard as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1684" y="1993392"/>
            <a:ext cx="2560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2580" y="1993392"/>
            <a:ext cx="2537460" cy="841248"/>
          </a:xfrm>
          <a:prstGeom prst="roundRect">
            <a:avLst/>
          </a:prstGeom>
          <a:solidFill>
            <a:srgbClr val="12182C"/>
          </a:solidFill>
          <a:ln w="1587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Calibri"/>
              </a:rPr>
              <a:t>helix-walkthrough.mp4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80944"/>
            <a:ext cx="1124712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OutcomeEngineTest: distinct keys, FAILED blocks, stale runId ignored. Then Helix → Reports GENERATED.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E8EE"/>
                </a:solidFill>
                <a:latin typeface="Calibri"/>
              </a:rPr>
              <a:t>▸  If they cannot demo those four proofs, they are proposing a bus, a DAG, or a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7CAD6"/>
                </a:solidFill>
                <a:latin typeface="Calibri"/>
              </a:rPr>
              <a:t>One Finance UX  ·  confidential  ·  architecture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10528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7CAD6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